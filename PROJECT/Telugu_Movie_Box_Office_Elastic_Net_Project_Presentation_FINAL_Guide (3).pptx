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82" r:id="rId3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6858000" cy="5212080"/>
          </a:xfrm>
          <a:prstGeom prst="roundRect">
            <a:avLst/>
          </a:prstGeom>
          <a:solidFill>
            <a:srgbClr val="141823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6679" y="914400"/>
            <a:ext cx="3840480" cy="5212080"/>
          </a:xfrm>
          <a:prstGeom prst="roundRect">
            <a:avLst/>
          </a:prstGeom>
          <a:solidFill>
            <a:srgbClr val="141823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7FA"/>
                </a:solidFill>
                <a:latin typeface="Aptos"/>
              </a:defRPr>
            </a:pPr>
            <a:r>
              <a:t>Telugu Movie</a:t>
            </a:r>
            <a:br/>
            <a:r>
              <a:t>Box-Office Revenue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ptos"/>
              </a:defRPr>
            </a:pPr>
            <a:r>
              <a:t>Using Elastic Net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3AEC0"/>
                </a:solidFill>
                <a:latin typeface="Aptos"/>
              </a:defRPr>
            </a:pPr>
            <a:r>
              <a:t>Predicting potential box-office revenue from historical Telugu cinema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P. Gowtham Varma • 2520090202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1324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A. Siddhartha Varma • 2520090119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659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3AEC0"/>
                </a:solidFill>
                <a:latin typeface="Aptos"/>
              </a:defRPr>
            </a:pPr>
            <a:r>
              <a:t>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947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Haritha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7889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3AEC0"/>
                </a:solidFill>
                <a:latin typeface="Aptos"/>
              </a:defRPr>
            </a:pPr>
            <a:r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7706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KL University, Bachupally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6118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3AEC0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59359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Machine Learning / Data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348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3AEC0"/>
                </a:solidFill>
                <a:latin typeface="Aptos"/>
              </a:defRPr>
            </a:pPr>
            <a:r>
              <a:t>Academic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416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51576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ptos"/>
              </a:defRPr>
            </a:pPr>
            <a:r>
              <a:t>Gandi Karthikeya  •  2520090103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5230368"/>
            <a:ext cx="315468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5358384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90B12"/>
                </a:solidFill>
                <a:latin typeface="Aptos"/>
              </a:defRPr>
            </a:pPr>
            <a:r>
              <a:t>3-MEMBER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A complete story from problem definition to model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01  Introduction &amp;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50292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49047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02  Problem + Motivation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5029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49047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03  Objectives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60320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72491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04  Existing vs Proposed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56032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560320"/>
            <a:ext cx="50292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272491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05  Architecture &amp;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56032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560320"/>
            <a:ext cx="5029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72491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06  Technology + Modules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9476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95935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07  Dataset &amp; Preprocessing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79476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794760"/>
            <a:ext cx="50292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395935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08  Elastic Net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79476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794760"/>
            <a:ext cx="5029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395935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09  Implementation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2920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29200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19379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10  Results &amp; Evaluation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502920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5029200"/>
            <a:ext cx="50292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6008" y="519379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11  Applications + Limitations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029200"/>
            <a:ext cx="347472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5029200"/>
            <a:ext cx="5029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519379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12  Future Scope + Conclusion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PROJECT TEAM &amp; 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Using Elastic Net Regression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2880360"/>
          </a:xfrm>
          <a:prstGeom prst="roundRect">
            <a:avLst/>
          </a:prstGeom>
          <a:solidFill>
            <a:srgbClr val="141823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38528" y="1874519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38528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0B1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P. Gowtham Varma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Aptos"/>
              </a:defRPr>
            </a:pPr>
            <a:r>
              <a:t>Roll No. 2520090202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136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3AEC0"/>
                </a:solidFill>
                <a:latin typeface="Aptos"/>
              </a:defRPr>
            </a:pPr>
            <a:r>
              <a:t>Machine Learning Project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337560" cy="2880360"/>
          </a:xfrm>
          <a:prstGeom prst="roundRect">
            <a:avLst/>
          </a:prstGeom>
          <a:solidFill>
            <a:srgbClr val="141823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87568" y="1874519"/>
            <a:ext cx="731520" cy="7315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0B1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A. Siddhartha Varma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366F1"/>
                </a:solidFill>
                <a:latin typeface="Aptos"/>
              </a:defRPr>
            </a:pPr>
            <a:r>
              <a:t>Roll No. 2520090119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136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3AEC0"/>
                </a:solidFill>
                <a:latin typeface="Aptos"/>
              </a:defRPr>
            </a:pPr>
            <a:r>
              <a:t>Machine Learning Project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600200"/>
            <a:ext cx="3337560" cy="2880360"/>
          </a:xfrm>
          <a:prstGeom prst="roundRect">
            <a:avLst/>
          </a:prstGeom>
          <a:solidFill>
            <a:srgbClr val="141823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36607" y="1874519"/>
            <a:ext cx="731520" cy="7315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7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0B1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834640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7FA"/>
                </a:solidFill>
                <a:latin typeface="Aptos"/>
              </a:defRPr>
            </a:pPr>
            <a:r>
              <a:t>Gandi Karthikeya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38328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Roll No. 2520090103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13632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3AEC0"/>
                </a:solidFill>
                <a:latin typeface="Aptos"/>
              </a:defRPr>
            </a:pPr>
            <a:r>
              <a:t>Machine Learning Project Team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892040"/>
            <a:ext cx="8138160" cy="914400"/>
          </a:xfrm>
          <a:prstGeom prst="roundRect">
            <a:avLst/>
          </a:prstGeom>
          <a:solidFill>
            <a:srgbClr val="1C212F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50749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Aptos"/>
              </a:defRPr>
            </a:pPr>
            <a:r>
              <a:t>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010912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Haritha  •  KL University, Bachupally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Project context and the need for data-driven box-office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029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49047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92807"/>
            <a:ext cx="26334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Telugu cinema produces films across diverse genres, budgets, stars and release scales. Revenue outcomes can vary significantly even when investment is high.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7472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5029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90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49047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892807"/>
            <a:ext cx="26334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Machine learning can learn relationships between historical movie attributes and financial outcomes, supporting analytical decision-making.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50292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90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49047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Why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1892807"/>
            <a:ext cx="26334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A structured predictive system can turn historical movie data into an estimated revenue signal instead of relying only on intuition.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F7FA"/>
                </a:solidFill>
                <a:latin typeface="Aptos"/>
              </a:defRPr>
            </a:pPr>
            <a:r>
              <a:t>Historical movie features  →  preprocessing  →  Elastic Net regression  →  predicted box-office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What makes movie revenue prediction difficult?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0292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Existing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1947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Movie revenue depends on multiple interacting factors: budget, marketing, popularity, ratings, votes, release scale, genre and season. These variables may also be correlated with one another.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42976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0292" cy="4297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904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Challenges /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91947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• High variability in box-office outcomes</a:t>
            </a:r>
            <a:br/>
            <a:r>
              <a:t>• Missing or inconsistent historical values</a:t>
            </a:r>
            <a:br/>
            <a:r>
              <a:t>• Categorical features require encoding</a:t>
            </a:r>
            <a:br/>
            <a:r>
              <a:t>• Multicollinearity among numerical predictors</a:t>
            </a:r>
            <a:br/>
            <a:r>
              <a:t>• Simple linear models may overfit or become unstable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3AEC0"/>
                </a:solidFill>
                <a:latin typeface="Aptos"/>
              </a:defRPr>
            </a:pPr>
            <a:r>
              <a:t>Affected stakeholders: producers • analysts • investors • distributors • researchers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3.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Why this project was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0B1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Real-world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099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3AEC0"/>
                </a:solidFill>
                <a:latin typeface="Aptos"/>
              </a:defRPr>
            </a:pPr>
            <a:r>
              <a:t>Estimate financial potential before release</a:t>
            </a:r>
          </a:p>
        </p:txBody>
      </p:sp>
      <p:sp>
        <p:nvSpPr>
          <p:cNvPr id="10" name="Oval 9"/>
          <p:cNvSpPr/>
          <p:nvPr/>
        </p:nvSpPr>
        <p:spPr>
          <a:xfrm>
            <a:off x="4069080" y="141732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4813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0B1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Data-driven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7099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3AEC0"/>
                </a:solidFill>
                <a:latin typeface="Aptos"/>
              </a:defRPr>
            </a:pPr>
            <a:r>
              <a:t>Convert movie metadata into measurable signals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141732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4813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0B1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ML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7099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3AEC0"/>
                </a:solidFill>
                <a:latin typeface="Aptos"/>
              </a:defRPr>
            </a:pPr>
            <a:r>
              <a:t>Demonstrate regression on a practical problem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06324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272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0B1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Research motivation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3558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3AEC0"/>
                </a:solidFill>
                <a:latin typeface="Aptos"/>
              </a:defRPr>
            </a:pPr>
            <a:r>
              <a:t>Study regularization under correlated features</a:t>
            </a:r>
          </a:p>
        </p:txBody>
      </p:sp>
      <p:sp>
        <p:nvSpPr>
          <p:cNvPr id="22" name="Oval 21"/>
          <p:cNvSpPr/>
          <p:nvPr/>
        </p:nvSpPr>
        <p:spPr>
          <a:xfrm>
            <a:off x="4069080" y="30632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31272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0B1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3558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3AEC0"/>
                </a:solidFill>
                <a:latin typeface="Aptos"/>
              </a:defRPr>
            </a:pPr>
            <a:r>
              <a:t>Provide an interpretable revenue estimate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0" y="306324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1272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90B1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Web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3558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3AEC0"/>
                </a:solidFill>
                <a:latin typeface="Aptos"/>
              </a:defRPr>
            </a:pPr>
            <a:r>
              <a:t>Expose the model through an interactive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Specific goals of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5029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3990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399032"/>
            <a:ext cx="9674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Objective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01368"/>
            <a:ext cx="967435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Collect a comprehensive historical Telugu movie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48840"/>
            <a:ext cx="10515600" cy="71323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148840"/>
            <a:ext cx="50292" cy="7132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3134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313432"/>
            <a:ext cx="9674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Objective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715768"/>
            <a:ext cx="967435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Clean missing values and standardize numerical/categorical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63240"/>
            <a:ext cx="10515600" cy="71323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063240"/>
            <a:ext cx="50292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2278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227832"/>
            <a:ext cx="9674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Objective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630168"/>
            <a:ext cx="967435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Encode categorical variables and scale numerical features.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77639"/>
            <a:ext cx="10515600" cy="71323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977639"/>
            <a:ext cx="50292" cy="7132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4223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142231"/>
            <a:ext cx="9674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Objective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544568"/>
            <a:ext cx="967435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Train an Elastic Net regression model using L1 + L2 regularization.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92040"/>
            <a:ext cx="10515600" cy="71323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892040"/>
            <a:ext cx="50292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505663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056631"/>
            <a:ext cx="9674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Objective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458968"/>
            <a:ext cx="967435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Evaluate the model and expose predictions through an interactive web application.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5.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Typical approaches and their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3474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0292" cy="3474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7171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49047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Manual / Expert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92807"/>
            <a:ext cx="2633472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• Relies heavily on experience</a:t>
            </a:r>
            <a:br/>
            <a:r>
              <a:t>• Difficult to quantify many variables</a:t>
            </a:r>
            <a:br/>
            <a:r>
              <a:t>• Subjective and inconsistent</a:t>
            </a:r>
            <a:br/>
            <a:r>
              <a:t>• Hard to reproduce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474720" cy="3474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50292" cy="3474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90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49047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Basic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892807"/>
            <a:ext cx="2633472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• Easy to implement</a:t>
            </a:r>
            <a:br/>
            <a:r>
              <a:t>• Assumes simple relationships</a:t>
            </a:r>
            <a:br/>
            <a:r>
              <a:t>• Sensitive to correlated predictors</a:t>
            </a:r>
            <a:br/>
            <a:r>
              <a:t>• Can produce unstable coefficients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3474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50292" cy="3474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904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49047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Generic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1892807"/>
            <a:ext cx="2633472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• Often descriptive rather than predictive</a:t>
            </a:r>
            <a:br/>
            <a:r>
              <a:t>• May not combine movie-specific features</a:t>
            </a:r>
            <a:br/>
            <a:r>
              <a:t>• Limited interactive financial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Gap identified → a dedicated, regularized, web-accessible movie revenue prediction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6.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A unified ML + web application for Telugu movie 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74320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Movie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Historical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2743200"/>
            <a:ext cx="50292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Clean + encode +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2743200"/>
            <a:ext cx="50292" cy="1417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Elastic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L1 + 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0336" y="2743200"/>
            <a:ext cx="5029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Revenue 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7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82328" y="274320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83496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Search + analytics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617720"/>
            <a:ext cx="3108960" cy="105156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617720"/>
            <a:ext cx="5029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78231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Addresses the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184648"/>
            <a:ext cx="2724912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Automates the complete prediction pipeline.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617720"/>
            <a:ext cx="3108960" cy="105156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4617720"/>
            <a:ext cx="50292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27448" y="478231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5184648"/>
            <a:ext cx="2724912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Search a movie and view financial indicators.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617720"/>
            <a:ext cx="3108960" cy="105156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4617720"/>
            <a:ext cx="50292" cy="1051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8" y="478231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Extensible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5184648"/>
            <a:ext cx="2724912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Can be retrained as better data becomes available.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7. 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51760" cy="21488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9339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INPUT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95728"/>
            <a:ext cx="226771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Movie title • year • budget</a:t>
            </a:r>
            <a:br/>
            <a:r>
              <a:t>marketing • rating • votes</a:t>
            </a:r>
            <a:br/>
            <a:r>
              <a:t>runtime • screens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2606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51760" cy="21488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50292" cy="2148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99339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395728"/>
            <a:ext cx="226771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Missing values</a:t>
            </a:r>
            <a:br/>
            <a:r>
              <a:t>Encoding • scaling</a:t>
            </a:r>
            <a:br/>
            <a:r>
              <a:t>Feature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606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2651760" cy="21488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0292" cy="21488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99339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95728"/>
            <a:ext cx="226771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Elastic Net Regression</a:t>
            </a:r>
            <a:br/>
            <a:r>
              <a:t>L1 + L2 regularization</a:t>
            </a:r>
            <a:br/>
            <a:r>
              <a:t>Train / test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606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651760" cy="21488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50292" cy="2148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199339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395728"/>
            <a:ext cx="226771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Revenue prediction</a:t>
            </a:r>
            <a:br/>
            <a:r>
              <a:t>ROI estimate</a:t>
            </a:r>
            <a:br/>
            <a:r>
              <a:t>Confidence interval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4617720"/>
            <a:ext cx="6126480" cy="9144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4617720"/>
            <a:ext cx="5029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8688" y="4782312"/>
            <a:ext cx="5742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WEB APPLICATION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5184648"/>
            <a:ext cx="574243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Search • Dataset Explorer • Live Predictor • Analytics • Model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8. 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Step-by-step implementation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6032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029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81912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984248"/>
            <a:ext cx="171907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Historical movie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6032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417320"/>
            <a:ext cx="50292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581912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1984248"/>
            <a:ext cx="171907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Missing values + consistency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56032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0292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1581912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1984248"/>
            <a:ext cx="171907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Encode categories +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17320"/>
            <a:ext cx="256032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50292" cy="1600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1581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1581912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1984248"/>
            <a:ext cx="171907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Training / testing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49039"/>
            <a:ext cx="256032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749039"/>
            <a:ext cx="5029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91363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3913631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315968"/>
            <a:ext cx="171907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Elastic 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749039"/>
            <a:ext cx="256032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3749039"/>
            <a:ext cx="50292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391363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3913631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4315968"/>
            <a:ext cx="171907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MAE • MSE • RMSE • R²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49039"/>
            <a:ext cx="256032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749039"/>
            <a:ext cx="50292" cy="1600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7" y="391363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7" y="3913631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7" y="4315968"/>
            <a:ext cx="171907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Interactive web 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1965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9.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Tools used across the ML and presentation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6636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0292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4782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Core ML / data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234440"/>
            <a:ext cx="516636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139903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Pandas +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801368"/>
            <a:ext cx="4782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Data cleaning &amp; numerical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516636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468880"/>
            <a:ext cx="5029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035808"/>
            <a:ext cx="4782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ElasticNet + preprocessing +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468880"/>
            <a:ext cx="516636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468880"/>
            <a:ext cx="50292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263347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HTML + CSS + 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035808"/>
            <a:ext cx="4782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Interactive web application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516636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703320"/>
            <a:ext cx="5029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86791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Tailwind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70248"/>
            <a:ext cx="4782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Responsive visual styling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703320"/>
            <a:ext cx="516636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703320"/>
            <a:ext cx="50292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7" y="386791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Chart.js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4270248"/>
            <a:ext cx="4782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Interactive analytics 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37760"/>
            <a:ext cx="5166360" cy="960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937760"/>
            <a:ext cx="5029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10235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VS Code / Jupyter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504688"/>
            <a:ext cx="4782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Development &amp; experimentation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10. System Modules /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Functional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029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8424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Navigation, forms and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50292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98424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Historical movie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0292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198424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Cleaning, encoding, 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1554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ML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198424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Elastic Net regression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2900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29000"/>
            <a:ext cx="5029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59359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Financial Lookup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99592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Movie-level budget / revenue 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42900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429000"/>
            <a:ext cx="50292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59359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Prediction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399592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Live revenue estimation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2900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429000"/>
            <a:ext cx="50292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359359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399592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Budget-revenue and genre charts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29000"/>
            <a:ext cx="256032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429000"/>
            <a:ext cx="50292" cy="1554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359359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Model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3995928"/>
            <a:ext cx="217627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MAE, MSE, RMSE, R²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11.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From code to an interactive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429000" cy="4389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0292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44751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Implementation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47088"/>
            <a:ext cx="304495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1. Define dataset schema</a:t>
            </a:r>
            <a:br/>
            <a:r>
              <a:t>2. Build dataset array / data source</a:t>
            </a:r>
            <a:br/>
            <a:r>
              <a:t>3. Implement search and autocomplete</a:t>
            </a:r>
            <a:br/>
            <a:r>
              <a:t>4. Implement financial calculation view</a:t>
            </a:r>
            <a:br/>
            <a:r>
              <a:t>5. Implement live predictor</a:t>
            </a:r>
            <a:br/>
            <a:r>
              <a:t>6. Add dataset explorer</a:t>
            </a:r>
            <a:br/>
            <a:r>
              <a:t>7. Add Chart.js analytics</a:t>
            </a:r>
            <a:br/>
            <a:r>
              <a:t>8. Add model evaluation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4389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50292" cy="4389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44751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47088"/>
            <a:ext cx="304495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Home</a:t>
            </a:r>
            <a:br/>
            <a:r>
              <a:t>Movie Financial Lookup</a:t>
            </a:r>
            <a:br/>
            <a:r>
              <a:t>Live Predictor</a:t>
            </a:r>
            <a:br/>
            <a:r>
              <a:t>Dataset Explorer</a:t>
            </a:r>
            <a:br/>
            <a:r>
              <a:t>Analytics</a:t>
            </a:r>
            <a:br/>
            <a:r>
              <a:t>Model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29000" cy="4389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50292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444751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847088"/>
            <a:ext cx="304495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Movie financial breakdown</a:t>
            </a:r>
            <a:br/>
            <a:r>
              <a:t>Predicted revenue</a:t>
            </a:r>
            <a:br/>
            <a:r>
              <a:t>ROI estimate</a:t>
            </a:r>
            <a:br/>
            <a:r>
              <a:t>Success probability</a:t>
            </a:r>
            <a:br/>
            <a:r>
              <a:t>Confidence interval</a:t>
            </a:r>
            <a:br/>
            <a:r>
              <a:t>Charts and evaluation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12. Dataset / 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Movie-level features used by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694944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0292" cy="694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103144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Movie title, release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30552"/>
            <a:ext cx="10698480" cy="694944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30552"/>
            <a:ext cx="50292" cy="6949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95144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Financial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97480"/>
            <a:ext cx="103144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Production budget, marketing budget,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26664"/>
            <a:ext cx="10698480" cy="694944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26664"/>
            <a:ext cx="50292" cy="69494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91256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93592"/>
            <a:ext cx="103144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IMDb rating, vote count, popularity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22776"/>
            <a:ext cx="10698480" cy="694944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22776"/>
            <a:ext cx="50292" cy="69494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87368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489704"/>
            <a:ext cx="103144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Runtime, release screens, director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18888"/>
            <a:ext cx="10698480" cy="694944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818888"/>
            <a:ext cx="50292" cy="694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983479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Categorical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385816"/>
            <a:ext cx="10314432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Genre, production company, release season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Aptos"/>
              </a:defRPr>
            </a:pPr>
            <a:r>
              <a:t>Application target: 550+ movie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13.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Preparing raw movie attributes for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74320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Mixed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2743200"/>
            <a:ext cx="50292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Impute /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8344" y="2743200"/>
            <a:ext cx="50292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Categorical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One-hot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0336" y="2743200"/>
            <a:ext cx="50292" cy="1417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Numerical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Standard 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7" y="3246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74320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82328" y="2743200"/>
            <a:ext cx="5029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83496" y="290779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Model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331012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Ready for training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72000"/>
            <a:ext cx="3108960" cy="9144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572000"/>
            <a:ext cx="5029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73659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138928"/>
            <a:ext cx="27249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Remove inconsistent or unusable records.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572000"/>
            <a:ext cx="3108960" cy="9144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4572000"/>
            <a:ext cx="5029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27448" y="473659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Feature Consistency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5138928"/>
            <a:ext cx="27249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Keep units and ranges consistent.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572000"/>
            <a:ext cx="3108960" cy="9144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4572000"/>
            <a:ext cx="5029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8" y="4736592"/>
            <a:ext cx="2724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Leakage Awareness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5138928"/>
            <a:ext cx="272491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Fit transformations using training data in a production pipeline.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14. Algorithm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Elastic Net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657600" cy="4389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0292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273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Why Elastic Net?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27355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Elastic Net combines L1 (Lasso) and L2 (Ridge) regularization.</a:t>
            </a:r>
            <a:br/>
            <a:br/>
            <a:r>
              <a:t>L1 can encourage sparse coefficients, while L2 improves stability when predictors are correlated.</a:t>
            </a:r>
            <a:br/>
            <a:br/>
            <a:r>
              <a:t>This makes the approach suitable for a feature-rich movie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699516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325880"/>
            <a:ext cx="5029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490472"/>
            <a:ext cx="6611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Model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92807"/>
            <a:ext cx="661111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Minimize prediction error while penalizing coefficient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Aptos"/>
              </a:defRPr>
            </a:pPr>
            <a:r>
              <a:t>Loss = RSS + λ₁ Σ|βⱼ| + λ₂ Σβⱼ²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794760"/>
            <a:ext cx="2148840" cy="150876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3794760"/>
            <a:ext cx="50292" cy="1508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3959352"/>
            <a:ext cx="1764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4361688"/>
            <a:ext cx="176479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Feature selection / sparsity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794760"/>
            <a:ext cx="2148840" cy="150876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3794760"/>
            <a:ext cx="50292" cy="1508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7" y="3959352"/>
            <a:ext cx="1764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4361688"/>
            <a:ext cx="176479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Coefficient stability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3794760"/>
            <a:ext cx="2148840" cy="150876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3794760"/>
            <a:ext cx="50292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3959352"/>
            <a:ext cx="1764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Hybrid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4361688"/>
            <a:ext cx="176479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Balanced regularization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15. Model Configuration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Important parameters and evaluation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2900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029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304495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80% /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Data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50292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819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Regularization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84248"/>
            <a:ext cx="304495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Elastic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43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L1 + 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417320"/>
            <a:ext cx="342900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417320"/>
            <a:ext cx="50292" cy="1600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5819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84248"/>
            <a:ext cx="304495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8.42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Reported application metric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74720"/>
            <a:ext cx="342900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474720"/>
            <a:ext cx="5029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6393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041648"/>
            <a:ext cx="304495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114.65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Reported application metric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474720"/>
            <a:ext cx="342900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474720"/>
            <a:ext cx="50292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36393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041648"/>
            <a:ext cx="304495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10.71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00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Reported application metric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474720"/>
            <a:ext cx="342900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3474720"/>
            <a:ext cx="50292" cy="1600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36393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4041648"/>
            <a:ext cx="304495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0.894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Reported application metric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16. Screenshots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Representative application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743200" cy="4389120"/>
          </a:xfrm>
          <a:prstGeom prst="roundRect">
            <a:avLst/>
          </a:prstGeom>
          <a:solidFill>
            <a:srgbClr val="10131C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Telugu Movie Box Office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EC0"/>
                </a:solidFill>
                <a:latin typeface="Aptos"/>
              </a:defRPr>
            </a:pPr>
            <a:r>
              <a:t>Revenue prediction powered by Elastic 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2286000" cy="685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029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82112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Search Movie Profits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84448"/>
            <a:ext cx="1901952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RRR • Baahubali 2 • Pushpa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80160"/>
            <a:ext cx="2743200" cy="4389120"/>
          </a:xfrm>
          <a:prstGeom prst="roundRect">
            <a:avLst/>
          </a:prstGeom>
          <a:solidFill>
            <a:srgbClr val="10131C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3898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Aptos"/>
              </a:defRPr>
            </a:pPr>
            <a:r>
              <a:t>FINANCIAL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🔍  Search: RRR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423160"/>
            <a:ext cx="2286000" cy="13258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2423160"/>
            <a:ext cx="50292" cy="1325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2587752"/>
            <a:ext cx="1901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990088"/>
            <a:ext cx="1901952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Budget ₹350 Cr   Revenue ₹1230 Cr</a:t>
            </a:r>
            <a:br/>
            <a:r>
              <a:t>IMDb 7.8   Screens 3000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280160"/>
            <a:ext cx="2743200" cy="4389120"/>
          </a:xfrm>
          <a:prstGeom prst="roundRect">
            <a:avLst/>
          </a:prstGeom>
          <a:solidFill>
            <a:srgbClr val="10131C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3898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Aptos"/>
              </a:defRPr>
            </a:pPr>
            <a:r>
              <a:t>LIVE PREDICTOR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Live Predictor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86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EC0"/>
                </a:solidFill>
                <a:latin typeface="Aptos"/>
              </a:defRPr>
            </a:pPr>
            <a:r>
              <a:t>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2585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F7FA"/>
                </a:solidFill>
                <a:latin typeface="Aptos"/>
              </a:defRPr>
            </a:pPr>
            <a:r>
              <a:t>120 / 25 / 8.2 / 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974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EC0"/>
                </a:solidFill>
                <a:latin typeface="Aptos"/>
              </a:defRPr>
            </a:pPr>
            <a:r>
              <a:t>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670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F7FA"/>
                </a:solidFill>
                <a:latin typeface="Aptos"/>
              </a:defRPr>
            </a:pPr>
            <a:r>
              <a:t>120 / 25 / 8.2 / 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EC0"/>
                </a:solidFill>
                <a:latin typeface="Aptos"/>
              </a:defRPr>
            </a:pPr>
            <a:r>
              <a:t>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08152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F7FA"/>
                </a:solidFill>
                <a:latin typeface="Aptos"/>
              </a:defRPr>
            </a:pPr>
            <a:r>
              <a:t>120 / 25 / 8.2 / 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3AEC0"/>
                </a:solidFill>
                <a:latin typeface="Aptos"/>
              </a:defRPr>
            </a:pPr>
            <a:r>
              <a:t>Popularity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4930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F7FA"/>
                </a:solidFill>
                <a:latin typeface="Aptos"/>
              </a:defRPr>
            </a:pPr>
            <a:r>
              <a:t>120 / 25 / 8.2 / 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Aptos"/>
              </a:defRPr>
            </a:pPr>
            <a:r>
              <a:t>Predicted Revenue: ₹342.5 Cr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1280160"/>
            <a:ext cx="2423160" cy="4389120"/>
          </a:xfrm>
          <a:prstGeom prst="roundRect">
            <a:avLst/>
          </a:prstGeom>
          <a:solidFill>
            <a:srgbClr val="10131C"/>
          </a:solidFill>
          <a:ln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138988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Aptos"/>
              </a:defRPr>
            </a:pPr>
            <a:r>
              <a:t>DATASET EXPLORER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1874519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7FA"/>
                </a:solidFill>
                <a:latin typeface="Aptos"/>
              </a:defRPr>
            </a:pPr>
            <a:r>
              <a:t>Dataset Explorer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2860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F7FA"/>
                </a:solidFill>
                <a:latin typeface="Aptos"/>
              </a:defRPr>
            </a:pPr>
            <a:r>
              <a:t>RRR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697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F7FA"/>
                </a:solidFill>
                <a:latin typeface="Aptos"/>
              </a:defRPr>
            </a:pPr>
            <a:r>
              <a:t>Baahubali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31089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F7FA"/>
                </a:solidFill>
                <a:latin typeface="Aptos"/>
              </a:defRPr>
            </a:pPr>
            <a:r>
              <a:t>Pushpa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5204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F7FA"/>
                </a:solidFill>
                <a:latin typeface="Aptos"/>
              </a:defRPr>
            </a:pPr>
            <a:r>
              <a:t>Kalki 2898 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17.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Reported model and application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6032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029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2176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₹8.42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Mean absolute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256032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417320"/>
            <a:ext cx="5029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1984248"/>
            <a:ext cx="2176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114.65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Squared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417320"/>
            <a:ext cx="256032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417320"/>
            <a:ext cx="50292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1984248"/>
            <a:ext cx="2176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₹10.71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Root mean squared 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17320"/>
            <a:ext cx="2560320" cy="18288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17320"/>
            <a:ext cx="50292" cy="1828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158191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1984248"/>
            <a:ext cx="2176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0.894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A3AEC0"/>
                </a:solidFill>
                <a:latin typeface="Aptos"/>
              </a:defRPr>
            </a:pPr>
            <a:r>
              <a:t>89.4% variance explained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94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7FA"/>
                </a:solidFill>
                <a:latin typeface="Aptos"/>
              </a:defRPr>
            </a:pPr>
            <a:r>
              <a:t>Reported R² performance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43400"/>
            <a:ext cx="10515600" cy="502920"/>
          </a:xfrm>
          <a:prstGeom prst="roundRect">
            <a:avLst/>
          </a:prstGeom>
          <a:solidFill>
            <a:srgbClr val="1C2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343400"/>
            <a:ext cx="9400032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53128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90B12"/>
                </a:solidFill>
                <a:latin typeface="Aptos"/>
              </a:defRPr>
            </a:pPr>
            <a:r>
              <a:t>0.894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3AEC0"/>
                </a:solidFill>
                <a:latin typeface="Aptos"/>
              </a:defRPr>
            </a:pPr>
            <a:r>
              <a:t>Note: These values are the metrics displayed by the current project application; they should be presented as project-reported results unless independently reproduced from the final training dataset.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18. Analytics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Turning predictions into understandable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389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0292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Budget vs Box Office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49194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Scatter analysis helps visualize the relationship between production investment and revenue. Outliers can highlight movies whose revenue differs substantially from their budget scale.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6492240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44168" y="6153912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91056" y="5815583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37943" y="5477255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84832" y="5138928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4800600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78608" y="4462271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25496" y="4123944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72384" y="6345936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19272" y="6007607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66160" y="5669279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13048" y="5330951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59936" y="4992624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06824" y="4654296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53712" y="4315968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00600" y="3977639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47488" y="6199631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94376" y="5861303"/>
            <a:ext cx="73152" cy="7315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2200" y="1325880"/>
            <a:ext cx="5303520" cy="43891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325880"/>
            <a:ext cx="50292" cy="4389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490472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Genre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1892807"/>
            <a:ext cx="4919472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The dashboard provides a visual overview of the movie categories represented in the dataset and supports comparative exploration.</a:t>
            </a:r>
          </a:p>
        </p:txBody>
      </p:sp>
      <p:sp>
        <p:nvSpPr>
          <p:cNvPr id="32" name="Oval 31"/>
          <p:cNvSpPr/>
          <p:nvPr/>
        </p:nvSpPr>
        <p:spPr>
          <a:xfrm>
            <a:off x="7726679" y="2057400"/>
            <a:ext cx="2103120" cy="21031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0" y="2560320"/>
            <a:ext cx="1097280" cy="1097280"/>
          </a:xfrm>
          <a:prstGeom prst="ellipse">
            <a:avLst/>
          </a:prstGeom>
          <a:solidFill>
            <a:srgbClr val="14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Genres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19.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Benefits of the proposed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5029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Unified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Data → preprocessing → model →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029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Regularized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92807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Handles correlated predictors more robustly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39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34639"/>
            <a:ext cx="5029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99923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Interactive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40156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Quick movie-level financial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39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34639"/>
            <a:ext cx="50292" cy="1188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9923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Live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40156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Users can modify inputs and obtain estimates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343400"/>
            <a:ext cx="5029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50799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Visual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91032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Charts make patterns easier to interpret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4340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43400"/>
            <a:ext cx="5029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0799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Extensible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91032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Dataset and model can be updated over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20.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Potential real-world users and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42900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029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819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Producers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84248"/>
            <a:ext cx="304495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Pre-release financial scenario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42900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50292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819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Distributors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984248"/>
            <a:ext cx="304495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Compare release-scale and revenue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50292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8191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Film Analysts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84248"/>
            <a:ext cx="304495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Explore historical patterns and outliers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342900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29000"/>
            <a:ext cx="50292" cy="1554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59359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Investors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995928"/>
            <a:ext cx="304495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Use model output as one analytical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429000"/>
            <a:ext cx="342900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429000"/>
            <a:ext cx="5029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59359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Researchers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995928"/>
            <a:ext cx="304495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Study ML regression on entertainment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429000"/>
            <a:ext cx="3429000" cy="15544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429000"/>
            <a:ext cx="50292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9359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95928"/>
            <a:ext cx="304495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Demonstrate a complete ML deployment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21.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Current constraints to acknowledge during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0292" cy="1234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9903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Constraint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482803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Historical data quality directly affects model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21208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50292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90779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Constraint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10128"/>
            <a:ext cx="482803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Movie revenue can be influenced by unexpected events and market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21208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41655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Constraint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818888"/>
            <a:ext cx="482803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Feature availability may differ between historical and future movies.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234440"/>
            <a:ext cx="521208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1234440"/>
            <a:ext cx="50292" cy="1234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139903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Constraint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1801368"/>
            <a:ext cx="482803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The current web application uses a client-side dataset representation.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743200"/>
            <a:ext cx="521208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50292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290779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Constraint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310128"/>
            <a:ext cx="482803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Displayed project metrics need reproducible training/evaluation records for formal validation.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51960"/>
            <a:ext cx="521208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5196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416552"/>
            <a:ext cx="4828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Constraint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818888"/>
            <a:ext cx="482803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Revenue prediction is an estimate, not a guarantee of commercial performance.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22.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How the project can evolve into a stronger production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5029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44751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Verified live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4708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Replace mock/generated values with validated movie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029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44751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Real ML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4708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Serve a trained Scikit-learn model through an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788920"/>
            <a:ext cx="5029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95351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Automated retraining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35584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Periodically retrain as new movies and outcomes arrive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88920"/>
            <a:ext cx="50292" cy="1188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53512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Advanced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55848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Compare Elastic Net with Random Forest, XGBoost and boosting methods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97679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297679"/>
            <a:ext cx="5029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462271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Cloud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864607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Deploy model + frontend for wider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79"/>
            <a:ext cx="5166360" cy="11887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297679"/>
            <a:ext cx="5029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462271"/>
            <a:ext cx="4782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Scenario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864607"/>
            <a:ext cx="4782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Simulate budget, marketing and release strategy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7FA"/>
                </a:solidFill>
                <a:latin typeface="Aptos Display"/>
              </a:defRPr>
            </a:pPr>
            <a:r>
              <a:t>23.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3AEC0"/>
                </a:solidFill>
                <a:latin typeface="Aptos"/>
              </a:defRPr>
            </a:pPr>
            <a:r>
              <a:t>Key outcome and overall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F7FA"/>
                </a:solidFill>
                <a:latin typeface="Aptos"/>
              </a:defRPr>
            </a:pPr>
            <a:r>
              <a:t>A complete ML-driven framework for Telugu movie box-office revenue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58775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Historical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9008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Movie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9260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42316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2423160"/>
            <a:ext cx="50292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58775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9008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Clean +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9260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42316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2423160"/>
            <a:ext cx="50292" cy="1417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258775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Elastic 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99008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Regularized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29260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242316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0336" y="2423160"/>
            <a:ext cx="5029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58775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99008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Revenue estimate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292608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82328" y="2423160"/>
            <a:ext cx="2084832" cy="14173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82328" y="242316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3496" y="2587752"/>
            <a:ext cx="1700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Web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6" y="2990088"/>
            <a:ext cx="170078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Interactive decision support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663440"/>
            <a:ext cx="3154680" cy="10058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4663440"/>
            <a:ext cx="502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4828031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Achieved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5230368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Integrated data, ML and web visualization.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663440"/>
            <a:ext cx="3154680" cy="10058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6280" y="4663440"/>
            <a:ext cx="50292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7448" y="4828031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Key Outcome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7448" y="5230368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Interactive revenue prediction workflow.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663440"/>
            <a:ext cx="3154680" cy="10058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3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4663440"/>
            <a:ext cx="50292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8" y="4828031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Contribution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5230368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A3AEC0"/>
                </a:solidFill>
                <a:latin typeface="Aptos"/>
              </a:defRPr>
            </a:pPr>
            <a:r>
              <a:t>Practical demonstration of Elastic Net.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3AEC0"/>
                </a:solidFill>
                <a:latin typeface="Aptos"/>
              </a:defRPr>
            </a:pPr>
            <a:r>
              <a:t>Telugu Movie Box-Office Revenue Prediction • Elastic Net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BBF2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  <a:latin typeface="Aptos"/>
              </a:defRPr>
            </a:pPr>
            <a:r>
              <a:t>P. Gowtham Varma • A. Siddhartha Varma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3AEC0"/>
                </a:solidFill>
                <a:latin typeface="Aptos"/>
              </a:defRPr>
            </a:pPr>
            <a:r>
              <a:t>Guide: Haritha • KL University, Bachupally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Aptos"/>
              </a:defRPr>
            </a:pPr>
            <a:r>
              <a:t>Telugu Movie Box-Office Revenue Prediction Using Elastic Net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A3AEC0"/>
                </a:solidFill>
                <a:latin typeface="Aptos"/>
              </a:defRPr>
            </a:pPr>
            <a:r>
              <a:t>Gowtham Varma • Siddhartha Varma • Gandi Karthikeya  |  KL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